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C2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4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MelanomaNet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05050"/>
                </a:solidFill>
              </a:defRPr>
            </a:pPr>
            <a:r>
              <a:t>Explainable Deep Learning for Skin Lesion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Sukhrobbek Ilyosbekov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CS 7180 Advanced Perception | Northeastern University |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0625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Problem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rPr dirty="0"/>
              <a:t>Melanoma: Deadliest form of skin cancer</a:t>
            </a:r>
          </a:p>
          <a:p>
            <a:pPr lvl="1"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rPr dirty="0"/>
              <a:t>Responsible for majority of skin cancer deaths</a:t>
            </a:r>
          </a:p>
          <a:p>
            <a:pPr>
              <a:spcBef>
                <a:spcPts val="1200"/>
              </a:spcBef>
              <a:defRPr sz="2000"/>
            </a:pPr>
            <a:r>
              <a:rPr dirty="0"/>
              <a:t>Early detection critical: 99% vs &lt;30% survival rate</a:t>
            </a:r>
          </a:p>
          <a:p>
            <a:pPr lvl="1"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rPr dirty="0"/>
              <a:t>Localized vs. metastatic disease outcomes</a:t>
            </a:r>
          </a:p>
          <a:p>
            <a:pPr>
              <a:spcBef>
                <a:spcPts val="1200"/>
              </a:spcBef>
              <a:defRPr sz="2000"/>
            </a:pPr>
            <a:r>
              <a:rPr dirty="0"/>
              <a:t>Deep learning achieves dermatologist-level accuracy</a:t>
            </a:r>
          </a:p>
          <a:p>
            <a:pPr lvl="1"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rPr dirty="0"/>
              <a:t>CNNs match/exceed expert performance in studies</a:t>
            </a:r>
          </a:p>
          <a:p>
            <a:pPr>
              <a:spcBef>
                <a:spcPts val="1200"/>
              </a:spcBef>
              <a:defRPr sz="2000"/>
            </a:pPr>
            <a:r>
              <a:rPr dirty="0"/>
              <a:t>Clinical adoption limited due to 'black box' problem</a:t>
            </a:r>
          </a:p>
          <a:p>
            <a:pPr lvl="1"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rPr dirty="0"/>
              <a:t>Clinicians cannot verify AI reasoning</a:t>
            </a:r>
          </a:p>
          <a:p>
            <a:pPr lvl="1"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rPr dirty="0"/>
              <a:t>No connection to familiar clinical criteria (ABCDE)</a:t>
            </a:r>
          </a:p>
          <a:p>
            <a:pPr>
              <a:spcBef>
                <a:spcPts val="1200"/>
              </a:spcBef>
              <a:defRPr sz="2000"/>
            </a:pPr>
            <a:r>
              <a:rPr dirty="0"/>
              <a:t>Goal: Accurate classification WITH clinically meaningful explanations</a:t>
            </a:r>
          </a:p>
          <a:p>
            <a:pPr lvl="1"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rPr dirty="0"/>
              <a:t>Bridge the gap between AI predictions and clinical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29386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Key 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Deep Learning for Dermatology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• Esteva et al. (2017): CNN matches dermatologist accuracy</a:t>
            </a:r>
          </a:p>
          <a:p>
            <a:pPr>
              <a:spcBef>
                <a:spcPts val="800"/>
              </a:spcBef>
              <a:defRPr sz="1600"/>
            </a:pPr>
            <a:r>
              <a:t>• ISIC Challenges: Standardized benchmarks</a:t>
            </a:r>
          </a:p>
          <a:p>
            <a:pPr>
              <a:spcBef>
                <a:spcPts val="800"/>
              </a:spcBef>
              <a:defRPr sz="1600"/>
            </a:pPr>
            <a:r>
              <a:t>• EfficientNet ensembles: Top ISIC performance</a:t>
            </a:r>
          </a:p>
          <a:p>
            <a:pPr>
              <a:spcBef>
                <a:spcPts val="800"/>
              </a:spcBef>
              <a:defRPr sz="1600"/>
            </a:pPr>
            <a:r>
              <a:t>• Focus on accuracy, limited interpretability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Explainability &amp; Uncertainty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• GradCAM/GradCAM++: Visual attention heatmaps</a:t>
            </a:r>
          </a:p>
          <a:p>
            <a:pPr>
              <a:spcBef>
                <a:spcPts val="800"/>
              </a:spcBef>
              <a:defRPr sz="1600"/>
            </a:pPr>
            <a:r>
              <a:t>• TCAV (Kim et al.): Concept Activation Vectors</a:t>
            </a:r>
          </a:p>
          <a:p>
            <a:pPr>
              <a:spcBef>
                <a:spcPts val="800"/>
              </a:spcBef>
              <a:defRPr sz="1600"/>
            </a:pPr>
            <a:r>
              <a:t>• MC Dropout: Bayesian uncertainty estimation</a:t>
            </a:r>
          </a:p>
          <a:p>
            <a:pPr>
              <a:spcBef>
                <a:spcPts val="800"/>
              </a:spcBef>
              <a:defRPr sz="1600"/>
            </a:pPr>
            <a:r>
              <a:t>• Epistemic vs. Aleatoric decomposition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9508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t>Multi-modal explainability framework</a:t>
            </a:r>
          </a:p>
          <a:p>
            <a:pPr lvl="1"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Four mechanisms: GradCAM++, ABCDE, FastCAV, MC Dropout</a:t>
            </a:r>
          </a:p>
          <a:p>
            <a:pPr lvl="1"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Each addresses different aspects of interpretability</a:t>
            </a:r>
          </a:p>
          <a:p>
            <a:pPr>
              <a:spcBef>
                <a:spcPts val="1200"/>
              </a:spcBef>
              <a:defRPr sz="2000"/>
            </a:pPr>
            <a:r>
              <a:t>Clinical alignment with ABCDE criteria</a:t>
            </a:r>
          </a:p>
          <a:p>
            <a:pPr lvl="1"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Automated extraction of clinical features dermatologists use</a:t>
            </a:r>
          </a:p>
          <a:p>
            <a:pPr lvl="1"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Quantitative scores + risk stratification</a:t>
            </a:r>
          </a:p>
          <a:p>
            <a:pPr>
              <a:spcBef>
                <a:spcPts val="1200"/>
              </a:spcBef>
              <a:defRPr sz="2000"/>
            </a:pPr>
            <a:r>
              <a:t>Uncertainty ≠ Confidence</a:t>
            </a:r>
          </a:p>
          <a:p>
            <a:pPr lvl="1"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100% confident predictions can still have high uncertainty</a:t>
            </a:r>
          </a:p>
          <a:p>
            <a:pPr lvl="1"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Decompose into epistemic (model) and aleatoric (data) components</a:t>
            </a:r>
          </a:p>
          <a:p>
            <a:pPr>
              <a:spcBef>
                <a:spcPts val="1200"/>
              </a:spcBef>
              <a:defRPr sz="2000"/>
            </a:pPr>
            <a:r>
              <a:t>Concept-based explanations via FastCAV</a:t>
            </a:r>
          </a:p>
          <a:p>
            <a:pPr lvl="1"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Learn concept vectors in feature space</a:t>
            </a:r>
          </a:p>
          <a:p>
            <a:pPr lvl="1"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t>TCAV scores show which concepts support/oppose predictions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32909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dirty="0"/>
              <a:t>System </a:t>
            </a:r>
            <a:r>
              <a:rPr dirty="0"/>
              <a:t>Architecture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0802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46464"/>
                </a:solidFill>
              </a:defRPr>
            </a:pPr>
            <a:r>
              <a:t>EfficientNet V2-M backbone with four explainability modules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444589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Four Explainability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Visual &amp; Clinical Explanations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rPr dirty="0"/>
              <a:t>• </a:t>
            </a:r>
            <a:r>
              <a:rPr dirty="0" err="1"/>
              <a:t>GradCAM</a:t>
            </a:r>
            <a:r>
              <a:rPr dirty="0"/>
              <a:t>++: Attention heatmaps</a:t>
            </a:r>
          </a:p>
          <a:p>
            <a:pPr>
              <a:spcBef>
                <a:spcPts val="800"/>
              </a:spcBef>
              <a:defRPr sz="1600"/>
            </a:pPr>
            <a:r>
              <a:rPr dirty="0"/>
              <a:t>• ABCDE Analysis:</a:t>
            </a:r>
          </a:p>
          <a:p>
            <a:pPr>
              <a:spcBef>
                <a:spcPts val="800"/>
              </a:spcBef>
              <a:defRPr sz="1600"/>
            </a:pPr>
            <a:r>
              <a:rPr dirty="0"/>
              <a:t>•   - Asymmetry: Compare lesion halves</a:t>
            </a:r>
          </a:p>
          <a:p>
            <a:pPr>
              <a:spcBef>
                <a:spcPts val="800"/>
              </a:spcBef>
              <a:defRPr sz="1600"/>
            </a:pPr>
            <a:r>
              <a:rPr dirty="0"/>
              <a:t>•   - Border: Contour irregularity</a:t>
            </a:r>
          </a:p>
          <a:p>
            <a:pPr>
              <a:spcBef>
                <a:spcPts val="800"/>
              </a:spcBef>
              <a:defRPr sz="1600"/>
            </a:pPr>
            <a:r>
              <a:rPr dirty="0"/>
              <a:t>•   - Color: K-means clustering (k=6)</a:t>
            </a:r>
          </a:p>
          <a:p>
            <a:pPr>
              <a:spcBef>
                <a:spcPts val="800"/>
              </a:spcBef>
              <a:defRPr sz="1600"/>
            </a:pPr>
            <a:r>
              <a:rPr dirty="0"/>
              <a:t>•   - Diameter: Maximum extent in pixels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Concept &amp; Uncertainty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t>• FastCAV: Concept vectors via SGD</a:t>
            </a:r>
          </a:p>
          <a:p>
            <a:pPr>
              <a:spcBef>
                <a:spcPts val="800"/>
              </a:spcBef>
              <a:defRPr sz="1600"/>
            </a:pPr>
            <a:r>
              <a:t>•   - TCAV scores: +supports, -opposes</a:t>
            </a:r>
          </a:p>
          <a:p>
            <a:pPr>
              <a:spcBef>
                <a:spcPts val="800"/>
              </a:spcBef>
              <a:defRPr sz="1600"/>
            </a:pPr>
            <a:r>
              <a:t>• MC Dropout Uncertainty:</a:t>
            </a:r>
          </a:p>
          <a:p>
            <a:pPr>
              <a:spcBef>
                <a:spcPts val="800"/>
              </a:spcBef>
              <a:defRPr sz="1600"/>
            </a:pPr>
            <a:r>
              <a:t>•   - 10 stochastic forward passes</a:t>
            </a:r>
          </a:p>
          <a:p>
            <a:pPr>
              <a:spcBef>
                <a:spcPts val="800"/>
              </a:spcBef>
              <a:defRPr sz="1600"/>
            </a:pPr>
            <a:r>
              <a:t>•   - Epistemic: model uncertainty</a:t>
            </a:r>
          </a:p>
          <a:p>
            <a:pPr>
              <a:spcBef>
                <a:spcPts val="800"/>
              </a:spcBef>
              <a:defRPr sz="1600"/>
            </a:pPr>
            <a:r>
              <a:t>•   - Aleatoric: data uncertainty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42492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Classification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/>
            </a:pPr>
            <a:r>
              <a:rPr dirty="0"/>
              <a:t>Dataset: ISIC 2019 - 25,331 images, </a:t>
            </a:r>
            <a:r>
              <a:rPr lang="en-US" dirty="0"/>
              <a:t>9</a:t>
            </a:r>
            <a:r>
              <a:rPr dirty="0"/>
              <a:t> classes</a:t>
            </a:r>
            <a:endParaRPr lang="en-US" dirty="0"/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MEL (Melanoma), NV (Nevus), BCC (Basal cell carcinoma), AK (Actinic keratosis)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BKL (Benign keratosis), DF (Dermatofibroma), VASC (Vascular), SCC (Squamous cell carcinoma), UNK (Unknown)</a:t>
            </a:r>
            <a:endParaRPr sz="1600" dirty="0">
              <a:solidFill>
                <a:srgbClr val="FF0000"/>
              </a:solidFill>
            </a:endParaRPr>
          </a:p>
          <a:p>
            <a:pPr lvl="1"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rPr dirty="0"/>
              <a:t>70% train / 15% </a:t>
            </a:r>
            <a:r>
              <a:rPr dirty="0" err="1"/>
              <a:t>val</a:t>
            </a:r>
            <a:r>
              <a:rPr dirty="0"/>
              <a:t> / 15% test split</a:t>
            </a:r>
          </a:p>
          <a:p>
            <a:pPr>
              <a:spcBef>
                <a:spcPts val="1200"/>
              </a:spcBef>
              <a:defRPr sz="2000"/>
            </a:pPr>
            <a:r>
              <a:rPr dirty="0"/>
              <a:t>Overall Accuracy: 85.61%</a:t>
            </a:r>
          </a:p>
          <a:p>
            <a:pPr lvl="1"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rPr dirty="0"/>
              <a:t>Precision: 86.00%, Recall: 85.61%</a:t>
            </a:r>
          </a:p>
          <a:p>
            <a:pPr>
              <a:spcBef>
                <a:spcPts val="1200"/>
              </a:spcBef>
              <a:defRPr sz="2000"/>
            </a:pPr>
            <a:r>
              <a:rPr dirty="0"/>
              <a:t>Weighted F1 Score: 85.64%</a:t>
            </a:r>
          </a:p>
          <a:p>
            <a:pPr>
              <a:spcBef>
                <a:spcPts val="1200"/>
              </a:spcBef>
              <a:defRPr sz="2000"/>
            </a:pPr>
            <a:r>
              <a:rPr dirty="0"/>
              <a:t>Strong performance despite 50:1 class imbalance</a:t>
            </a:r>
          </a:p>
          <a:p>
            <a:pPr lvl="1"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rPr dirty="0"/>
              <a:t>NV dominates at 50.83%, DF only 0.94%</a:t>
            </a:r>
          </a:p>
          <a:p>
            <a:pPr>
              <a:spcBef>
                <a:spcPts val="1200"/>
              </a:spcBef>
              <a:defRPr sz="2000"/>
            </a:pPr>
            <a:r>
              <a:rPr dirty="0"/>
              <a:t>Per-class: NV F1=0.91, BCC F1=0.89, MEL F1=0.77</a:t>
            </a:r>
          </a:p>
          <a:p>
            <a:pPr lvl="1">
              <a:spcBef>
                <a:spcPts val="600"/>
              </a:spcBef>
              <a:defRPr sz="1600">
                <a:solidFill>
                  <a:srgbClr val="505050"/>
                </a:solidFill>
              </a:defRPr>
            </a:pPr>
            <a:r>
              <a:rPr dirty="0"/>
              <a:t>Melanoma: Precision 81%, Recall 75%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41783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Sample Inference Outputs</a:t>
            </a:r>
          </a:p>
        </p:txBody>
      </p:sp>
      <p:pic>
        <p:nvPicPr>
          <p:cNvPr id="4" name="Picture 3" descr="ISIC_0034335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4206240" cy="2690731"/>
          </a:xfrm>
          <a:prstGeom prst="rect">
            <a:avLst/>
          </a:prstGeom>
        </p:spPr>
      </p:pic>
      <p:pic>
        <p:nvPicPr>
          <p:cNvPr id="5" name="Picture 4" descr="ISIC_0034376_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97280"/>
            <a:ext cx="4206240" cy="26907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94360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Benign Nevus - RELIABLE (94.49% conf)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594360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Melanoma - UNCERTAIN (100% conf, high aleatoric)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5352" y="4572000"/>
            <a:ext cx="409330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lang="en-US" dirty="0"/>
              <a:t>Code available at</a:t>
            </a:r>
            <a:endParaRPr dirty="0"/>
          </a:p>
          <a:p>
            <a:pPr algn="ctr">
              <a:defRPr sz="1400">
                <a:solidFill>
                  <a:srgbClr val="646464"/>
                </a:solidFill>
              </a:defRPr>
            </a:pPr>
            <a:r>
              <a:rPr lang="en-US" dirty="0"/>
              <a:t>https://</a:t>
            </a:r>
            <a:r>
              <a:rPr dirty="0"/>
              <a:t>github.com/suxrobgm/explainable-melanoma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520</Words>
  <Application>Microsoft Office PowerPoint</Application>
  <PresentationFormat>On-screen Show (4:3)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Sukhrob Ilyosbekov</cp:lastModifiedBy>
  <cp:revision>6</cp:revision>
  <dcterms:created xsi:type="dcterms:W3CDTF">2013-01-27T09:14:16Z</dcterms:created>
  <dcterms:modified xsi:type="dcterms:W3CDTF">2025-12-10T21:36:06Z</dcterms:modified>
  <cp:category/>
</cp:coreProperties>
</file>